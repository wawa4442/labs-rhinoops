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4" r:id="rId5"/>
    <p:sldId id="258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66FFCC"/>
    <a:srgbClr val="00CC99"/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A8D93-5185-4BB2-81B3-1F67396A65D6}" type="datetimeFigureOut">
              <a:rPr lang="es-MX" smtClean="0"/>
              <a:t>08/09/2026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741B3-50E9-4C36-AC57-0D7663BC6C4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173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741B3-50E9-4C36-AC57-0D7663BC6C4A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5330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741B3-50E9-4C36-AC57-0D7663BC6C4A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6158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rcRect t="11135" b="10413"/>
          <a:stretch>
            <a:fillRect/>
          </a:stretch>
        </p:blipFill>
        <p:spPr>
          <a:xfrm>
            <a:off x="4724399" y="1334087"/>
            <a:ext cx="2743200" cy="21520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80460" y="3697570"/>
            <a:ext cx="8631078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6000" b="1" i="0" u="none" dirty="0">
                <a:solidFill>
                  <a:srgbClr val="F8FAFC"/>
                </a:solidFill>
                <a:latin typeface="Poppins"/>
              </a:rPr>
              <a:t>Guía de </a:t>
            </a:r>
            <a:r>
              <a:rPr sz="6000" b="1" i="0" u="none" dirty="0" err="1">
                <a:solidFill>
                  <a:srgbClr val="F8FAFC"/>
                </a:solidFill>
                <a:latin typeface="Poppins"/>
              </a:rPr>
              <a:t>Compilación</a:t>
            </a:r>
            <a:endParaRPr sz="6000" b="1" i="0" u="none" dirty="0">
              <a:solidFill>
                <a:srgbClr val="F8FAFC"/>
              </a:solidFill>
              <a:latin typeface="Poppi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C130BB-D2FE-C6D2-61C8-9F3FDB948605}"/>
              </a:ext>
            </a:extLst>
          </p:cNvPr>
          <p:cNvSpPr txBox="1"/>
          <p:nvPr/>
        </p:nvSpPr>
        <p:spPr>
          <a:xfrm>
            <a:off x="7963976" y="6368995"/>
            <a:ext cx="4493495" cy="407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  <a:defRPr/>
            </a:pPr>
            <a:r>
              <a:rPr lang="en-US" b="1" dirty="0">
                <a:solidFill>
                  <a:srgbClr val="CBD5E1"/>
                </a:solidFill>
                <a:latin typeface="Lato"/>
              </a:rPr>
              <a:t>https://github.com/DanyGHub</a:t>
            </a:r>
            <a:endParaRPr b="1" i="0" u="none" dirty="0">
              <a:solidFill>
                <a:srgbClr val="CBD5E1"/>
              </a:solidFill>
              <a:latin typeface="Lato"/>
            </a:endParaRPr>
          </a:p>
        </p:txBody>
      </p:sp>
      <p:pic>
        <p:nvPicPr>
          <p:cNvPr id="9" name="Picture 8" descr="Github Logo 512x501 PNG picture">
            <a:extLst>
              <a:ext uri="{FF2B5EF4-FFF2-40B4-BE49-F238E27FC236}">
                <a16:creationId xmlns:a16="http://schemas.microsoft.com/office/drawing/2014/main" id="{CD0881F9-91F2-4D8D-D51E-7C3CC116B9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523" y="5528925"/>
            <a:ext cx="914400" cy="8915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FFBC85-92DF-D101-741C-F0E997A1DA00}"/>
              </a:ext>
            </a:extLst>
          </p:cNvPr>
          <p:cNvSpPr txBox="1"/>
          <p:nvPr/>
        </p:nvSpPr>
        <p:spPr>
          <a:xfrm>
            <a:off x="3849251" y="4669776"/>
            <a:ext cx="4493495" cy="4117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  <a:defRPr/>
            </a:pPr>
            <a:r>
              <a:rPr lang="en-US" sz="2400" b="1" dirty="0">
                <a:solidFill>
                  <a:srgbClr val="CBD5E1"/>
                </a:solidFill>
                <a:latin typeface="Lato"/>
              </a:rPr>
              <a:t>Grocery Inventory</a:t>
            </a:r>
            <a:endParaRPr sz="2400" b="1" i="0" u="none" dirty="0">
              <a:solidFill>
                <a:srgbClr val="CBD5E1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57387"/>
            <a:ext cx="3429000" cy="3895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1957387"/>
            <a:ext cx="3429000" cy="3895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0" y="1957387"/>
            <a:ext cx="3429000" cy="38957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15941" y="2986087"/>
            <a:ext cx="94011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F8FAFC"/>
                </a:solidFill>
                <a:latin typeface="Poppins"/>
              </a:rPr>
              <a:t>JDK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586162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Lato"/>
              </a:rPr>
              <a:t>El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proyecto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ha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sido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migrado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recientemente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. La variable JAVA_HOME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debe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apuntar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obligatoriamente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al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directorio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raíz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su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instalación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de Java 21.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95887" y="2986087"/>
            <a:ext cx="18002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F8FAFC"/>
                </a:solidFill>
                <a:latin typeface="Poppins"/>
              </a:rPr>
              <a:t>Maven 3.9+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586162"/>
            <a:ext cx="283845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Requerido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para la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gestión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dependencias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y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empaquetado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.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Verifique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que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su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variable MAVEN_HOME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esté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configurada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correctamente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en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su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sistema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operativo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97872" y="2986087"/>
            <a:ext cx="241625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0" i="0" u="none" dirty="0">
                <a:solidFill>
                  <a:srgbClr val="F8FAFC"/>
                </a:solidFill>
                <a:latin typeface="Poppins"/>
              </a:rPr>
              <a:t>Docker Desktop</a:t>
            </a:r>
            <a:endParaRPr sz="2400" b="0" i="0" u="none" dirty="0">
              <a:solidFill>
                <a:srgbClr val="F8FAFC"/>
              </a:solidFill>
              <a:latin typeface="Poppi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86775" y="3586162"/>
            <a:ext cx="2838450" cy="150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500" dirty="0" err="1">
                <a:solidFill>
                  <a:srgbClr val="CBD5E1"/>
                </a:solidFill>
                <a:latin typeface="Lato"/>
              </a:rPr>
              <a:t>Aplicacion</a:t>
            </a:r>
            <a:r>
              <a:rPr lang="en-US" sz="1500" dirty="0">
                <a:solidFill>
                  <a:srgbClr val="CBD5E1"/>
                </a:solidFill>
                <a:latin typeface="Lato"/>
              </a:rPr>
              <a:t> integral de windows para </a:t>
            </a:r>
            <a:r>
              <a:rPr lang="en-US" sz="1500" dirty="0" err="1">
                <a:solidFill>
                  <a:srgbClr val="CBD5E1"/>
                </a:solidFill>
                <a:latin typeface="Lato"/>
              </a:rPr>
              <a:t>ejecutar</a:t>
            </a:r>
            <a:r>
              <a:rPr lang="en-US" sz="1500" dirty="0">
                <a:solidFill>
                  <a:srgbClr val="CBD5E1"/>
                </a:solidFill>
                <a:latin typeface="Lato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Lato"/>
              </a:rPr>
              <a:t>aplicaciones</a:t>
            </a:r>
            <a:r>
              <a:rPr lang="en-US" sz="1500" dirty="0">
                <a:solidFill>
                  <a:srgbClr val="CBD5E1"/>
                </a:solidFill>
                <a:latin typeface="Lato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Lato"/>
              </a:rPr>
              <a:t>contenerizadas</a:t>
            </a:r>
            <a:r>
              <a:rPr lang="en-US" sz="1500" dirty="0">
                <a:solidFill>
                  <a:srgbClr val="CBD5E1"/>
                </a:solidFill>
                <a:latin typeface="Lato"/>
              </a:rPr>
              <a:t> y </a:t>
            </a:r>
            <a:r>
              <a:rPr lang="en-US" sz="1500" dirty="0" err="1">
                <a:solidFill>
                  <a:srgbClr val="CBD5E1"/>
                </a:solidFill>
                <a:latin typeface="Lato"/>
              </a:rPr>
              <a:t>microservicios</a:t>
            </a:r>
            <a:r>
              <a:rPr lang="en-US" sz="1500" dirty="0">
                <a:solidFill>
                  <a:srgbClr val="CBD5E1"/>
                </a:solidFill>
                <a:latin typeface="Lato"/>
              </a:rPr>
              <a:t> de </a:t>
            </a:r>
            <a:r>
              <a:rPr lang="en-US" sz="1500" dirty="0" err="1">
                <a:solidFill>
                  <a:srgbClr val="CBD5E1"/>
                </a:solidFill>
                <a:latin typeface="Lato"/>
              </a:rPr>
              <a:t>manera</a:t>
            </a:r>
            <a:r>
              <a:rPr lang="en-US" sz="1500" dirty="0">
                <a:solidFill>
                  <a:srgbClr val="CBD5E1"/>
                </a:solidFill>
                <a:latin typeface="Lato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Lato"/>
              </a:rPr>
              <a:t>fluida</a:t>
            </a:r>
            <a:r>
              <a:rPr lang="en-US" sz="1500" dirty="0">
                <a:solidFill>
                  <a:srgbClr val="CBD5E1"/>
                </a:solidFill>
                <a:latin typeface="Lato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Lato"/>
              </a:rPr>
              <a:t>en</a:t>
            </a:r>
            <a:r>
              <a:rPr lang="en-US" sz="1500" dirty="0">
                <a:solidFill>
                  <a:srgbClr val="CBD5E1"/>
                </a:solidFill>
                <a:latin typeface="Lato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Lato"/>
              </a:rPr>
              <a:t>maquinas</a:t>
            </a:r>
            <a:r>
              <a:rPr lang="en-US" sz="1500" dirty="0">
                <a:solidFill>
                  <a:srgbClr val="CBD5E1"/>
                </a:solidFill>
                <a:latin typeface="Lato"/>
              </a:rPr>
              <a:t> locales</a:t>
            </a:r>
            <a:endParaRPr sz="1500" b="0" i="0" u="none" dirty="0">
              <a:solidFill>
                <a:srgbClr val="CBD5E1"/>
              </a:solidFill>
              <a:latin typeface="Lato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4550" y="2300287"/>
            <a:ext cx="3429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8825" y="2300287"/>
            <a:ext cx="51435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8FAFC"/>
                </a:solidFill>
                <a:latin typeface="Poppins"/>
              </a:rPr>
              <a:t>Requisitos y Herramientas Base</a:t>
            </a:r>
          </a:p>
        </p:txBody>
      </p:sp>
      <p:pic>
        <p:nvPicPr>
          <p:cNvPr id="16" name="Picture 15" descr="Docker logo">
            <a:extLst>
              <a:ext uri="{FF2B5EF4-FFF2-40B4-BE49-F238E27FC236}">
                <a16:creationId xmlns:a16="http://schemas.microsoft.com/office/drawing/2014/main" id="{5B0389F6-7BF5-7792-B669-AAB29CAF0292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66FFCC">
                <a:tint val="45000"/>
                <a:satMod val="400000"/>
              </a:srgbClr>
            </a:duotone>
          </a:blip>
          <a:srcRect t="16643" b="17386"/>
          <a:stretch>
            <a:fillRect/>
          </a:stretch>
        </p:blipFill>
        <p:spPr>
          <a:xfrm>
            <a:off x="9591650" y="2300287"/>
            <a:ext cx="62869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9812"/>
            <a:ext cx="5286375" cy="3190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700337"/>
            <a:ext cx="473059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10B981"/>
                </a:solidFill>
                <a:latin typeface="Poppins"/>
              </a:rPr>
              <a:t>Actualización de Java 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300412"/>
            <a:ext cx="4505325" cy="579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s-ES" sz="1500" dirty="0">
                <a:solidFill>
                  <a:srgbClr val="CBD5E1"/>
                </a:solidFill>
                <a:latin typeface="Lato"/>
              </a:rPr>
              <a:t>Debe verificar el archivo </a:t>
            </a:r>
            <a:r>
              <a:rPr lang="es-ES" sz="1500" b="1" dirty="0">
                <a:solidFill>
                  <a:srgbClr val="CBD5E1"/>
                </a:solidFill>
                <a:latin typeface="Lato"/>
              </a:rPr>
              <a:t>pom.xml</a:t>
            </a:r>
            <a:r>
              <a:rPr lang="es-ES" sz="1500" dirty="0">
                <a:solidFill>
                  <a:srgbClr val="CBD5E1"/>
                </a:solidFill>
                <a:latin typeface="Lato"/>
              </a:rPr>
              <a:t> asegurándose de que la propiedad base refleje este cambio: </a:t>
            </a:r>
            <a:r>
              <a:rPr lang="es-ES" sz="1500" i="1" dirty="0">
                <a:solidFill>
                  <a:srgbClr val="CBD5E1"/>
                </a:solidFill>
                <a:latin typeface="Lato"/>
              </a:rPr>
              <a:t>21</a:t>
            </a:r>
            <a:r>
              <a:rPr lang="es-ES" sz="1500" dirty="0">
                <a:solidFill>
                  <a:srgbClr val="CBD5E1"/>
                </a:solidFill>
                <a:latin typeface="Lato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052887"/>
            <a:ext cx="4505325" cy="887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0" i="0" u="none" dirty="0">
                <a:solidFill>
                  <a:srgbClr val="CBD5E1"/>
                </a:solidFill>
                <a:latin typeface="Lato"/>
              </a:rPr>
              <a:t>Debe </a:t>
            </a:r>
            <a:r>
              <a:rPr lang="en-US" sz="1500" b="0" i="0" u="none" dirty="0" err="1">
                <a:solidFill>
                  <a:srgbClr val="CBD5E1"/>
                </a:solidFill>
                <a:latin typeface="Lato"/>
              </a:rPr>
              <a:t>verificar</a:t>
            </a:r>
            <a:r>
              <a:rPr lang="en-US" sz="15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lang="en-US" sz="1500" b="0" i="0" u="none" dirty="0" err="1">
                <a:solidFill>
                  <a:srgbClr val="CBD5E1"/>
                </a:solidFill>
                <a:latin typeface="Lato"/>
              </a:rPr>
              <a:t>que</a:t>
            </a:r>
            <a:r>
              <a:rPr lang="en-US" sz="15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lang="en-US" sz="1500" dirty="0">
                <a:solidFill>
                  <a:srgbClr val="CBD5E1"/>
                </a:solidFill>
                <a:latin typeface="Lato"/>
              </a:rPr>
              <a:t>la variable del Sistema JAVA_HOME </a:t>
            </a:r>
            <a:r>
              <a:rPr lang="en-US" sz="1500" dirty="0" err="1">
                <a:solidFill>
                  <a:srgbClr val="CBD5E1"/>
                </a:solidFill>
                <a:latin typeface="Lato"/>
              </a:rPr>
              <a:t>en</a:t>
            </a:r>
            <a:r>
              <a:rPr lang="en-US" sz="1500" dirty="0">
                <a:solidFill>
                  <a:srgbClr val="CBD5E1"/>
                </a:solidFill>
                <a:latin typeface="Lato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Lato"/>
              </a:rPr>
              <a:t>su</a:t>
            </a:r>
            <a:r>
              <a:rPr lang="en-US" sz="1500" dirty="0">
                <a:solidFill>
                  <a:srgbClr val="CBD5E1"/>
                </a:solidFill>
                <a:latin typeface="Lato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Lato"/>
              </a:rPr>
              <a:t>atributo</a:t>
            </a:r>
            <a:r>
              <a:rPr lang="en-US" sz="1500" dirty="0">
                <a:solidFill>
                  <a:srgbClr val="CBD5E1"/>
                </a:solidFill>
                <a:latin typeface="Lato"/>
              </a:rPr>
              <a:t> valor </a:t>
            </a:r>
            <a:r>
              <a:rPr lang="en-US" sz="1500" dirty="0" err="1">
                <a:solidFill>
                  <a:srgbClr val="CBD5E1"/>
                </a:solidFill>
                <a:latin typeface="Lato"/>
              </a:rPr>
              <a:t>contenga</a:t>
            </a:r>
            <a:r>
              <a:rPr lang="en-US" sz="1500" dirty="0">
                <a:solidFill>
                  <a:srgbClr val="CBD5E1"/>
                </a:solidFill>
                <a:latin typeface="Lato"/>
              </a:rPr>
              <a:t> la </a:t>
            </a:r>
            <a:r>
              <a:rPr lang="en-US" sz="1500" dirty="0" err="1">
                <a:solidFill>
                  <a:srgbClr val="CBD5E1"/>
                </a:solidFill>
                <a:latin typeface="Lato"/>
              </a:rPr>
              <a:t>direccion</a:t>
            </a:r>
            <a:r>
              <a:rPr lang="en-US" sz="1500" dirty="0">
                <a:solidFill>
                  <a:srgbClr val="CBD5E1"/>
                </a:solidFill>
                <a:latin typeface="Lato"/>
              </a:rPr>
              <a:t> de la </a:t>
            </a:r>
            <a:r>
              <a:rPr lang="en-US" sz="1500" dirty="0" err="1">
                <a:solidFill>
                  <a:srgbClr val="CBD5E1"/>
                </a:solidFill>
                <a:latin typeface="Lato"/>
              </a:rPr>
              <a:t>carpeta</a:t>
            </a:r>
            <a:r>
              <a:rPr lang="en-US" sz="1500" dirty="0">
                <a:solidFill>
                  <a:srgbClr val="CBD5E1"/>
                </a:solidFill>
                <a:latin typeface="Lato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Lato"/>
              </a:rPr>
              <a:t>correspondiente</a:t>
            </a:r>
            <a:r>
              <a:rPr lang="en-US" sz="1500" dirty="0">
                <a:solidFill>
                  <a:srgbClr val="CBD5E1"/>
                </a:solidFill>
                <a:latin typeface="Lato"/>
              </a:rPr>
              <a:t> al JDK21</a:t>
            </a:r>
            <a:endParaRPr sz="1500" b="0" i="0" u="none" dirty="0">
              <a:solidFill>
                <a:srgbClr val="CBD5E1"/>
              </a:solidFill>
              <a:latin typeface="La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 err="1">
                <a:solidFill>
                  <a:srgbClr val="F8FAFC"/>
                </a:solidFill>
                <a:latin typeface="Poppins"/>
              </a:rPr>
              <a:t>Ajustes</a:t>
            </a:r>
            <a:r>
              <a:rPr sz="3000" b="0" i="0" u="none" dirty="0">
                <a:solidFill>
                  <a:srgbClr val="F8FAFC"/>
                </a:solidFill>
                <a:latin typeface="Poppins"/>
              </a:rPr>
              <a:t> </a:t>
            </a:r>
            <a:r>
              <a:rPr sz="3000" b="0" i="0" u="none" dirty="0" err="1">
                <a:solidFill>
                  <a:srgbClr val="F8FAFC"/>
                </a:solidFill>
                <a:latin typeface="Poppins"/>
              </a:rPr>
              <a:t>en</a:t>
            </a:r>
            <a:r>
              <a:rPr sz="3000" b="0" i="0" u="none" dirty="0">
                <a:solidFill>
                  <a:srgbClr val="F8FAFC"/>
                </a:solidFill>
                <a:latin typeface="Poppins"/>
              </a:rPr>
              <a:t> </a:t>
            </a:r>
            <a:r>
              <a:rPr lang="en-US" sz="3000" b="0" i="0" u="none" dirty="0">
                <a:solidFill>
                  <a:srgbClr val="F8FAFC"/>
                </a:solidFill>
                <a:latin typeface="Poppins"/>
              </a:rPr>
              <a:t>Variables del Sistema/</a:t>
            </a:r>
            <a:r>
              <a:rPr lang="en-US" sz="3000" b="0" i="0" u="none" dirty="0" err="1">
                <a:solidFill>
                  <a:srgbClr val="F8FAFC"/>
                </a:solidFill>
                <a:latin typeface="Poppins"/>
              </a:rPr>
              <a:t>Usuario</a:t>
            </a:r>
            <a:endParaRPr sz="3000" b="0" i="0" u="none" dirty="0">
              <a:solidFill>
                <a:srgbClr val="F8FAFC"/>
              </a:solidFill>
              <a:latin typeface="Poppin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30CEA57-3632-0042-ECA1-0FFF9F112B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645" t="10609" r="30554" b="51875"/>
          <a:stretch>
            <a:fillRect/>
          </a:stretch>
        </p:blipFill>
        <p:spPr>
          <a:xfrm>
            <a:off x="6082690" y="2309812"/>
            <a:ext cx="5884495" cy="3200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C0072-5EF9-61CB-567E-08138A0F8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9FD09E4-1FB3-4C66-00AF-772D792DC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83026241-BE6F-2F70-7BC7-BAF94BCE8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72" y="1205621"/>
            <a:ext cx="5286375" cy="3190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991079-745C-6B92-9C94-B18036FBCC66}"/>
              </a:ext>
            </a:extLst>
          </p:cNvPr>
          <p:cNvSpPr txBox="1"/>
          <p:nvPr/>
        </p:nvSpPr>
        <p:spPr>
          <a:xfrm>
            <a:off x="884097" y="1495153"/>
            <a:ext cx="473059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0" i="0" u="none" dirty="0" err="1">
                <a:solidFill>
                  <a:srgbClr val="10B981"/>
                </a:solidFill>
                <a:latin typeface="Poppins"/>
              </a:rPr>
              <a:t>Dependencia</a:t>
            </a:r>
            <a:r>
              <a:rPr sz="2400" b="0" i="0" u="none" dirty="0">
                <a:solidFill>
                  <a:srgbClr val="10B981"/>
                </a:solidFill>
                <a:latin typeface="Poppins"/>
              </a:rPr>
              <a:t> de </a:t>
            </a:r>
            <a:r>
              <a:rPr lang="en-US" sz="2400" b="0" i="0" u="none" dirty="0" err="1">
                <a:solidFill>
                  <a:srgbClr val="10B981"/>
                </a:solidFill>
                <a:latin typeface="Poppins"/>
              </a:rPr>
              <a:t>springdoc</a:t>
            </a:r>
            <a:endParaRPr sz="2400" b="0" i="0" u="none" dirty="0">
              <a:solidFill>
                <a:srgbClr val="10B981"/>
              </a:solidFill>
              <a:latin typeface="Poppi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74BB76-2CB0-C1B5-2E31-60ECE566C66D}"/>
              </a:ext>
            </a:extLst>
          </p:cNvPr>
          <p:cNvSpPr txBox="1"/>
          <p:nvPr/>
        </p:nvSpPr>
        <p:spPr>
          <a:xfrm>
            <a:off x="884097" y="2072222"/>
            <a:ext cx="4505325" cy="21184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s-ES" sz="1500" dirty="0">
                <a:solidFill>
                  <a:srgbClr val="CBD5E1"/>
                </a:solidFill>
                <a:latin typeface="Lato"/>
              </a:rPr>
              <a:t>En el archivo </a:t>
            </a:r>
            <a:r>
              <a:rPr lang="es-ES" sz="1500" b="1" dirty="0">
                <a:solidFill>
                  <a:srgbClr val="CBD5E1"/>
                </a:solidFill>
                <a:latin typeface="Lato"/>
              </a:rPr>
              <a:t>pom.xml</a:t>
            </a:r>
            <a:r>
              <a:rPr lang="es-ES" sz="1500" dirty="0">
                <a:solidFill>
                  <a:srgbClr val="CBD5E1"/>
                </a:solidFill>
                <a:latin typeface="Lato"/>
              </a:rPr>
              <a:t> la dependencia mostrada, no tiene una versión oficial con numeración 3.x que se </a:t>
            </a:r>
            <a:r>
              <a:rPr lang="es-ES" sz="1500" dirty="0" err="1">
                <a:solidFill>
                  <a:srgbClr val="CBD5E1"/>
                </a:solidFill>
                <a:latin typeface="Lato"/>
              </a:rPr>
              <a:t>acompatible</a:t>
            </a:r>
            <a:r>
              <a:rPr lang="es-ES" sz="1500" dirty="0">
                <a:solidFill>
                  <a:srgbClr val="CBD5E1"/>
                </a:solidFill>
                <a:latin typeface="Lato"/>
              </a:rPr>
              <a:t> con las librerías estándar.</a:t>
            </a:r>
          </a:p>
          <a:p>
            <a:pPr>
              <a:lnSpc>
                <a:spcPts val="2400"/>
              </a:lnSpc>
            </a:pPr>
            <a:endParaRPr lang="es-ES" sz="1500" dirty="0">
              <a:solidFill>
                <a:srgbClr val="CBD5E1"/>
              </a:solidFill>
              <a:latin typeface="Lato"/>
            </a:endParaRPr>
          </a:p>
          <a:p>
            <a:pPr>
              <a:lnSpc>
                <a:spcPts val="2400"/>
              </a:lnSpc>
            </a:pPr>
            <a:r>
              <a:rPr lang="es-ES" sz="1500" dirty="0">
                <a:solidFill>
                  <a:srgbClr val="CBD5E1"/>
                </a:solidFill>
                <a:latin typeface="Lato"/>
              </a:rPr>
              <a:t>Al utilizar dicha versión, se arrastran paquetes internos con rutas duplicadas, colisionando en la compilación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4F7087-D05A-BB3A-38A1-3B3E0F4DCA38}"/>
              </a:ext>
            </a:extLst>
          </p:cNvPr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8FAFC"/>
                </a:solidFill>
                <a:latin typeface="Poppins"/>
              </a:rPr>
              <a:t>Ajustes Críticos en pom.xml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AE14C5-563F-B7DD-9AAB-8A2531FFF0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788" r="6768" b="29720"/>
          <a:stretch>
            <a:fillRect/>
          </a:stretch>
        </p:blipFill>
        <p:spPr>
          <a:xfrm>
            <a:off x="2573920" y="4459117"/>
            <a:ext cx="6412053" cy="22492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AF3DE0-A740-E2C2-BC09-F2445A6AC472}"/>
              </a:ext>
            </a:extLst>
          </p:cNvPr>
          <p:cNvSpPr txBox="1"/>
          <p:nvPr/>
        </p:nvSpPr>
        <p:spPr>
          <a:xfrm>
            <a:off x="5862576" y="1864485"/>
            <a:ext cx="64120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bg1"/>
                </a:solidFill>
                <a:effectLst/>
                <a:latin typeface="+mn-lt"/>
              </a:rPr>
              <a:t>&lt;dependency&gt;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bg1"/>
                </a:solidFill>
                <a:effectLst/>
                <a:latin typeface="+mn-lt"/>
              </a:rPr>
              <a:t>	&lt;</a:t>
            </a:r>
            <a:r>
              <a:rPr lang="en-US" sz="1800" b="0" dirty="0" err="1">
                <a:solidFill>
                  <a:schemeClr val="bg1"/>
                </a:solidFill>
                <a:effectLst/>
                <a:latin typeface="+mn-lt"/>
              </a:rPr>
              <a:t>groupId</a:t>
            </a:r>
            <a:r>
              <a:rPr lang="en-US" sz="1800" b="0" dirty="0">
                <a:solidFill>
                  <a:schemeClr val="bg1"/>
                </a:solidFill>
                <a:effectLst/>
                <a:latin typeface="+mn-lt"/>
              </a:rPr>
              <a:t>&gt;</a:t>
            </a:r>
            <a:r>
              <a:rPr lang="en-US" sz="1800" b="0" dirty="0" err="1">
                <a:solidFill>
                  <a:schemeClr val="bg1"/>
                </a:solidFill>
                <a:effectLst/>
                <a:latin typeface="+mn-lt"/>
              </a:rPr>
              <a:t>org.springdoc</a:t>
            </a:r>
            <a:r>
              <a:rPr lang="en-US" sz="1800" b="0" dirty="0">
                <a:solidFill>
                  <a:schemeClr val="bg1"/>
                </a:solidFill>
                <a:effectLst/>
                <a:latin typeface="+mn-lt"/>
              </a:rPr>
              <a:t>&lt;/</a:t>
            </a:r>
            <a:r>
              <a:rPr lang="en-US" sz="1800" b="0" dirty="0" err="1">
                <a:solidFill>
                  <a:schemeClr val="bg1"/>
                </a:solidFill>
                <a:effectLst/>
                <a:latin typeface="+mn-lt"/>
              </a:rPr>
              <a:t>groupId</a:t>
            </a:r>
            <a:r>
              <a:rPr lang="en-US" sz="1800" b="0" dirty="0">
                <a:solidFill>
                  <a:schemeClr val="bg1"/>
                </a:solidFill>
                <a:effectLst/>
                <a:latin typeface="+mn-lt"/>
              </a:rPr>
              <a:t>&gt;</a:t>
            </a:r>
          </a:p>
          <a:p>
            <a:pPr>
              <a:lnSpc>
                <a:spcPct val="10000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sz="1800" b="0" dirty="0">
                <a:solidFill>
                  <a:schemeClr val="bg1"/>
                </a:solidFill>
                <a:effectLst/>
                <a:latin typeface="+mn-lt"/>
              </a:rPr>
              <a:t>&lt;</a:t>
            </a:r>
            <a:r>
              <a:rPr lang="en-US" sz="1800" b="0" dirty="0" err="1">
                <a:solidFill>
                  <a:schemeClr val="bg1"/>
                </a:solidFill>
                <a:effectLst/>
                <a:latin typeface="+mn-lt"/>
              </a:rPr>
              <a:t>artifactId</a:t>
            </a:r>
            <a:r>
              <a:rPr lang="en-US" sz="1800" b="0" dirty="0">
                <a:solidFill>
                  <a:schemeClr val="bg1"/>
                </a:solidFill>
                <a:effectLst/>
                <a:latin typeface="+mn-lt"/>
              </a:rPr>
              <a:t>&gt;</a:t>
            </a:r>
            <a:r>
              <a:rPr lang="en-US" sz="1800" b="0" dirty="0" err="1">
                <a:solidFill>
                  <a:schemeClr val="bg1"/>
                </a:solidFill>
                <a:effectLst/>
                <a:latin typeface="+mn-lt"/>
              </a:rPr>
              <a:t>springdoc</a:t>
            </a:r>
            <a:r>
              <a:rPr lang="en-US" sz="1800" b="0" dirty="0">
                <a:solidFill>
                  <a:schemeClr val="bg1"/>
                </a:solidFill>
                <a:effectLst/>
                <a:latin typeface="+mn-lt"/>
              </a:rPr>
              <a:t>-</a:t>
            </a:r>
            <a:r>
              <a:rPr lang="en-US" sz="1800" b="0" dirty="0" err="1">
                <a:solidFill>
                  <a:schemeClr val="bg1"/>
                </a:solidFill>
                <a:effectLst/>
                <a:latin typeface="+mn-lt"/>
              </a:rPr>
              <a:t>openapi</a:t>
            </a:r>
            <a:r>
              <a:rPr lang="en-US" sz="1800" b="0" dirty="0">
                <a:solidFill>
                  <a:schemeClr val="bg1"/>
                </a:solidFill>
                <a:effectLst/>
                <a:latin typeface="+mn-lt"/>
              </a:rPr>
              <a:t>-starter-</a:t>
            </a:r>
            <a:r>
              <a:rPr lang="en-US" sz="1800" b="0" dirty="0" err="1">
                <a:solidFill>
                  <a:schemeClr val="bg1"/>
                </a:solidFill>
                <a:effectLst/>
                <a:latin typeface="+mn-lt"/>
              </a:rPr>
              <a:t>webmvc</a:t>
            </a:r>
            <a:r>
              <a:rPr lang="en-US" sz="1800" b="0" dirty="0">
                <a:solidFill>
                  <a:schemeClr val="bg1"/>
                </a:solidFill>
                <a:effectLst/>
                <a:latin typeface="+mn-lt"/>
              </a:rPr>
              <a:t>-</a:t>
            </a:r>
            <a:r>
              <a:rPr lang="en-US" sz="1800" b="0" dirty="0" err="1">
                <a:solidFill>
                  <a:schemeClr val="bg1"/>
                </a:solidFill>
                <a:effectLst/>
                <a:latin typeface="+mn-lt"/>
              </a:rPr>
              <a:t>ui</a:t>
            </a:r>
            <a:r>
              <a:rPr lang="en-US" sz="1800" b="0" dirty="0">
                <a:solidFill>
                  <a:schemeClr val="bg1"/>
                </a:solidFill>
                <a:effectLst/>
                <a:latin typeface="+mn-lt"/>
              </a:rPr>
              <a:t>&lt;/</a:t>
            </a:r>
            <a:r>
              <a:rPr lang="en-US" sz="1800" b="0" dirty="0" err="1">
                <a:solidFill>
                  <a:schemeClr val="bg1"/>
                </a:solidFill>
                <a:effectLst/>
                <a:latin typeface="+mn-lt"/>
              </a:rPr>
              <a:t>artifactId</a:t>
            </a:r>
            <a:r>
              <a:rPr lang="en-US" sz="1800" b="0" dirty="0">
                <a:solidFill>
                  <a:schemeClr val="bg1"/>
                </a:solidFill>
                <a:effectLst/>
                <a:latin typeface="+mn-lt"/>
              </a:rPr>
              <a:t>&gt;</a:t>
            </a:r>
          </a:p>
          <a:p>
            <a:pPr>
              <a:lnSpc>
                <a:spcPct val="10000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sz="1800" b="0" dirty="0">
                <a:solidFill>
                  <a:schemeClr val="bg1"/>
                </a:solidFill>
                <a:effectLst/>
                <a:latin typeface="+mn-lt"/>
              </a:rPr>
              <a:t>&lt;version&gt;2.8.5&lt;/version&gt;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bg1"/>
                </a:solidFill>
                <a:effectLst/>
                <a:latin typeface="+mn-lt"/>
              </a:rPr>
              <a:t>&lt;/dependency&gt;</a:t>
            </a:r>
            <a:endParaRPr lang="en-US" sz="105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233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5325" y="223837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2238375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Al clonar repositorios desde entornos Windows, los archivos suelen adoptar la terminación de línea </a:t>
            </a:r>
            <a:r>
              <a:rPr sz="1500" b="1" i="0" u="none">
                <a:solidFill>
                  <a:srgbClr val="CBD5E1"/>
                </a:solidFill>
                <a:latin typeface="Lato"/>
              </a:rPr>
              <a:t>CRLF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29908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2990850"/>
            <a:ext cx="5048250" cy="579582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Lato"/>
              </a:rPr>
              <a:t>Esto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corrompe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la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ejecución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de scripts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en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contenedores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Linux o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entornos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virtualizados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37433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743325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0B981"/>
                </a:solidFill>
                <a:latin typeface="Lato"/>
              </a:rPr>
              <a:t>Solución Obligatoria: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Debe modificar el formato de fin de línea a </a:t>
            </a:r>
            <a:r>
              <a:rPr sz="1500" b="1" i="0" u="none">
                <a:solidFill>
                  <a:srgbClr val="CBD5E1"/>
                </a:solidFill>
                <a:latin typeface="Lato"/>
              </a:rPr>
              <a:t>LF (Line Feed)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44958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495800"/>
            <a:ext cx="5048250" cy="846386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Lato"/>
              </a:rPr>
              <a:t>Configure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su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IDE (IntelliJ,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VSCode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o Eclipse) para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forzar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LF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en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los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Lato"/>
              </a:rPr>
              <a:t>archivos</a:t>
            </a:r>
            <a:r>
              <a:rPr lang="en-US" sz="1500" dirty="0">
                <a:solidFill>
                  <a:srgbClr val="CBD5E1"/>
                </a:solidFill>
                <a:latin typeface="Lato"/>
              </a:rPr>
              <a:t> de la </a:t>
            </a:r>
            <a:r>
              <a:rPr lang="en-US" sz="1500" dirty="0" err="1">
                <a:solidFill>
                  <a:srgbClr val="CBD5E1"/>
                </a:solidFill>
                <a:latin typeface="Lato"/>
              </a:rPr>
              <a:t>carpeta</a:t>
            </a:r>
            <a:r>
              <a:rPr lang="en-US" sz="1500" dirty="0">
                <a:solidFill>
                  <a:srgbClr val="CBD5E1"/>
                </a:solidFill>
                <a:latin typeface="Lato"/>
              </a:rPr>
              <a:t> </a:t>
            </a:r>
            <a:r>
              <a:rPr lang="en-US" sz="1500" b="1" dirty="0" err="1">
                <a:solidFill>
                  <a:srgbClr val="CBD5E1"/>
                </a:solidFill>
                <a:latin typeface="Lato"/>
              </a:rPr>
              <a:t>sql</a:t>
            </a:r>
            <a:endParaRPr lang="en-US" sz="1500" b="1" dirty="0">
              <a:solidFill>
                <a:srgbClr val="CBD5E1"/>
              </a:solidFill>
              <a:latin typeface="Lato"/>
            </a:endParaRPr>
          </a:p>
          <a:p>
            <a:pPr algn="l">
              <a:lnSpc>
                <a:spcPct val="100000"/>
              </a:lnSpc>
            </a:pPr>
            <a:r>
              <a:rPr lang="en-US" sz="1500" b="0" i="0" u="none" dirty="0">
                <a:solidFill>
                  <a:srgbClr val="CBD5E1"/>
                </a:solidFill>
                <a:latin typeface="Lato"/>
              </a:rPr>
              <a:t>Usar . </a:t>
            </a:r>
            <a:r>
              <a:rPr lang="en-US" sz="1500" b="0" i="0" u="none" dirty="0" err="1">
                <a:solidFill>
                  <a:srgbClr val="CBD5E1"/>
                </a:solidFill>
                <a:latin typeface="Lato"/>
              </a:rPr>
              <a:t>gitattributes</a:t>
            </a:r>
            <a:r>
              <a:rPr lang="en-US" sz="1500" b="0" i="0" u="none" dirty="0">
                <a:solidFill>
                  <a:srgbClr val="CBD5E1"/>
                </a:solidFill>
                <a:latin typeface="Lato"/>
              </a:rPr>
              <a:t> para </a:t>
            </a:r>
            <a:r>
              <a:rPr lang="en-US" sz="1500" b="0" i="0" u="none" dirty="0" err="1">
                <a:solidFill>
                  <a:srgbClr val="CBD5E1"/>
                </a:solidFill>
                <a:latin typeface="Lato"/>
              </a:rPr>
              <a:t>hacer</a:t>
            </a:r>
            <a:r>
              <a:rPr lang="en-US" sz="1500" b="0" i="0" u="none" dirty="0">
                <a:solidFill>
                  <a:srgbClr val="CBD5E1"/>
                </a:solidFill>
                <a:latin typeface="Lato"/>
              </a:rPr>
              <a:t> </a:t>
            </a:r>
            <a:r>
              <a:rPr lang="en-US" sz="1500" b="0" i="0" u="none" dirty="0" err="1">
                <a:solidFill>
                  <a:srgbClr val="CBD5E1"/>
                </a:solidFill>
                <a:latin typeface="Lato"/>
              </a:rPr>
              <a:t>uso</a:t>
            </a:r>
            <a:r>
              <a:rPr lang="en-US" sz="1500" b="0" i="0" u="none" dirty="0">
                <a:solidFill>
                  <a:srgbClr val="CBD5E1"/>
                </a:solidFill>
                <a:latin typeface="Lato"/>
              </a:rPr>
              <a:t> de 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8FAFC"/>
                </a:solidFill>
                <a:latin typeface="Poppins"/>
              </a:rPr>
              <a:t>Cambio de Formato: CRLF a LF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4536E74-DEF1-4FBE-7BAF-3A8567F93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62135"/>
            <a:ext cx="5486400" cy="17366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DEE0678-965F-1608-ABDB-255383D74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75426"/>
            <a:ext cx="5486400" cy="920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9812"/>
            <a:ext cx="5286375" cy="3190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700337"/>
            <a:ext cx="473059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0" i="0" u="none" dirty="0" err="1">
                <a:solidFill>
                  <a:srgbClr val="10B981"/>
                </a:solidFill>
                <a:latin typeface="Poppins"/>
              </a:rPr>
              <a:t>Inicio</a:t>
            </a:r>
            <a:r>
              <a:rPr sz="2400" b="0" i="0" u="none" dirty="0">
                <a:solidFill>
                  <a:srgbClr val="10B981"/>
                </a:solidFill>
                <a:latin typeface="Poppins"/>
              </a:rPr>
              <a:t> a Base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300412"/>
            <a:ext cx="4505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El archivo </a:t>
            </a:r>
            <a:r>
              <a:rPr sz="1500" b="1" i="0" u="none">
                <a:solidFill>
                  <a:srgbClr val="CBD5E1"/>
                </a:solidFill>
                <a:latin typeface="Lato"/>
              </a:rPr>
              <a:t>application.yml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o </a:t>
            </a:r>
            <a:r>
              <a:rPr sz="1500" b="1" i="0" u="none">
                <a:solidFill>
                  <a:srgbClr val="CBD5E1"/>
                </a:solidFill>
                <a:latin typeface="Lato"/>
              </a:rPr>
              <a:t>.yaml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requiere intervención manual para la ejecución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052887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s-ES" sz="1500" dirty="0">
                <a:solidFill>
                  <a:srgbClr val="CBD5E1"/>
                </a:solidFill>
                <a:latin typeface="Lato"/>
              </a:rPr>
              <a:t>El archivo fue refactorizado para eliminar directivas obsoletas que impedían el correcto arranque del servidor embebido de Spring Boot.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8FAFC"/>
                </a:solidFill>
                <a:latin typeface="Poppins"/>
              </a:rPr>
              <a:t>Modificación del Archivo .yml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54033B-3BF5-B671-A99F-9E8F03984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252302"/>
            <a:ext cx="5486400" cy="317669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C3A1A04-B6F7-AE99-1342-631072D6D633}"/>
              </a:ext>
            </a:extLst>
          </p:cNvPr>
          <p:cNvSpPr txBox="1"/>
          <p:nvPr/>
        </p:nvSpPr>
        <p:spPr>
          <a:xfrm>
            <a:off x="6359366" y="3520737"/>
            <a:ext cx="6223159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 err="1">
                <a:solidFill>
                  <a:schemeClr val="bg1"/>
                </a:solidFill>
              </a:rPr>
              <a:t>sqlserver-init</a:t>
            </a:r>
            <a:r>
              <a:rPr lang="es-MX" sz="1600" dirty="0">
                <a:solidFill>
                  <a:schemeClr val="bg1"/>
                </a:solidFill>
              </a:rPr>
              <a:t>:</a:t>
            </a:r>
          </a:p>
          <a:p>
            <a:r>
              <a:rPr lang="es-MX" sz="1600" dirty="0">
                <a:solidFill>
                  <a:schemeClr val="bg1"/>
                </a:solidFill>
              </a:rPr>
              <a:t>    </a:t>
            </a:r>
            <a:r>
              <a:rPr lang="es-MX" sz="1600" dirty="0" err="1">
                <a:solidFill>
                  <a:schemeClr val="bg1"/>
                </a:solidFill>
              </a:rPr>
              <a:t>image</a:t>
            </a:r>
            <a:r>
              <a:rPr lang="es-MX" sz="1600" dirty="0">
                <a:solidFill>
                  <a:schemeClr val="bg1"/>
                </a:solidFill>
              </a:rPr>
              <a:t>: mcr.microsoft.com/</a:t>
            </a:r>
            <a:r>
              <a:rPr lang="es-MX" sz="1600" dirty="0" err="1">
                <a:solidFill>
                  <a:schemeClr val="bg1"/>
                </a:solidFill>
              </a:rPr>
              <a:t>mssql</a:t>
            </a:r>
            <a:r>
              <a:rPr lang="es-MX" sz="1600" dirty="0">
                <a:solidFill>
                  <a:schemeClr val="bg1"/>
                </a:solidFill>
              </a:rPr>
              <a:t>/server:2022-latest</a:t>
            </a:r>
          </a:p>
          <a:p>
            <a:r>
              <a:rPr lang="es-MX" sz="1600" dirty="0">
                <a:solidFill>
                  <a:schemeClr val="bg1"/>
                </a:solidFill>
              </a:rPr>
              <a:t>    </a:t>
            </a:r>
            <a:r>
              <a:rPr lang="es-MX" sz="1600" dirty="0" err="1">
                <a:solidFill>
                  <a:schemeClr val="bg1"/>
                </a:solidFill>
              </a:rPr>
              <a:t>depends_on</a:t>
            </a:r>
            <a:r>
              <a:rPr lang="es-MX" sz="1600" dirty="0">
                <a:solidFill>
                  <a:schemeClr val="bg1"/>
                </a:solidFill>
              </a:rPr>
              <a:t>:</a:t>
            </a:r>
          </a:p>
          <a:p>
            <a:r>
              <a:rPr lang="es-MX" sz="1600" dirty="0">
                <a:solidFill>
                  <a:schemeClr val="bg1"/>
                </a:solidFill>
              </a:rPr>
              <a:t>      </a:t>
            </a:r>
            <a:r>
              <a:rPr lang="es-MX" sz="1600" dirty="0" err="1">
                <a:solidFill>
                  <a:schemeClr val="bg1"/>
                </a:solidFill>
              </a:rPr>
              <a:t>sqlserver</a:t>
            </a:r>
            <a:r>
              <a:rPr lang="es-MX" sz="1600" dirty="0">
                <a:solidFill>
                  <a:schemeClr val="bg1"/>
                </a:solidFill>
              </a:rPr>
              <a:t>:</a:t>
            </a:r>
          </a:p>
          <a:p>
            <a:r>
              <a:rPr lang="es-MX" sz="1600" dirty="0">
                <a:solidFill>
                  <a:schemeClr val="bg1"/>
                </a:solidFill>
              </a:rPr>
              <a:t>        </a:t>
            </a:r>
            <a:r>
              <a:rPr lang="es-MX" sz="1600" dirty="0" err="1">
                <a:solidFill>
                  <a:schemeClr val="bg1"/>
                </a:solidFill>
              </a:rPr>
              <a:t>condition</a:t>
            </a:r>
            <a:r>
              <a:rPr lang="es-MX" sz="1600" dirty="0">
                <a:solidFill>
                  <a:schemeClr val="bg1"/>
                </a:solidFill>
              </a:rPr>
              <a:t>: </a:t>
            </a:r>
            <a:r>
              <a:rPr lang="es-MX" sz="1600" dirty="0" err="1">
                <a:solidFill>
                  <a:schemeClr val="bg1"/>
                </a:solidFill>
              </a:rPr>
              <a:t>service_healthy</a:t>
            </a:r>
            <a:endParaRPr lang="es-MX" sz="1600" dirty="0">
              <a:solidFill>
                <a:schemeClr val="bg1"/>
              </a:solidFill>
            </a:endParaRPr>
          </a:p>
          <a:p>
            <a:r>
              <a:rPr lang="es-MX" sz="1600" dirty="0">
                <a:solidFill>
                  <a:schemeClr val="bg1"/>
                </a:solidFill>
              </a:rPr>
              <a:t>    </a:t>
            </a:r>
            <a:r>
              <a:rPr lang="es-MX" sz="1600" dirty="0" err="1">
                <a:solidFill>
                  <a:schemeClr val="bg1"/>
                </a:solidFill>
              </a:rPr>
              <a:t>network_mode</a:t>
            </a:r>
            <a:r>
              <a:rPr lang="es-MX" sz="1600" dirty="0">
                <a:solidFill>
                  <a:schemeClr val="bg1"/>
                </a:solidFill>
              </a:rPr>
              <a:t>: "</a:t>
            </a:r>
            <a:r>
              <a:rPr lang="es-MX" sz="1600" dirty="0" err="1">
                <a:solidFill>
                  <a:schemeClr val="bg1"/>
                </a:solidFill>
              </a:rPr>
              <a:t>service:sqlserver</a:t>
            </a:r>
            <a:r>
              <a:rPr lang="es-MX" sz="1600" dirty="0">
                <a:solidFill>
                  <a:schemeClr val="bg1"/>
                </a:solidFill>
              </a:rPr>
              <a:t>"</a:t>
            </a:r>
          </a:p>
          <a:p>
            <a:r>
              <a:rPr lang="es-MX" sz="1600" dirty="0">
                <a:solidFill>
                  <a:schemeClr val="bg1"/>
                </a:solidFill>
              </a:rPr>
              <a:t>    </a:t>
            </a:r>
            <a:r>
              <a:rPr lang="es-MX" sz="1600" dirty="0" err="1">
                <a:solidFill>
                  <a:schemeClr val="bg1"/>
                </a:solidFill>
              </a:rPr>
              <a:t>environment</a:t>
            </a:r>
            <a:r>
              <a:rPr lang="es-MX" sz="1600" dirty="0">
                <a:solidFill>
                  <a:schemeClr val="bg1"/>
                </a:solidFill>
              </a:rPr>
              <a:t>:</a:t>
            </a:r>
          </a:p>
          <a:p>
            <a:r>
              <a:rPr lang="es-MX" sz="1600" dirty="0">
                <a:solidFill>
                  <a:schemeClr val="bg1"/>
                </a:solidFill>
              </a:rPr>
              <a:t>      MSSQL_SA_PASSWORD: "YourStrongPassword123!"</a:t>
            </a:r>
          </a:p>
          <a:p>
            <a:r>
              <a:rPr lang="es-MX" sz="1600" dirty="0">
                <a:solidFill>
                  <a:schemeClr val="bg1"/>
                </a:solidFill>
              </a:rPr>
              <a:t>    </a:t>
            </a:r>
            <a:r>
              <a:rPr lang="es-MX" sz="1600" dirty="0" err="1">
                <a:solidFill>
                  <a:schemeClr val="bg1"/>
                </a:solidFill>
              </a:rPr>
              <a:t>volumes</a:t>
            </a:r>
            <a:r>
              <a:rPr lang="es-MX" sz="1600" dirty="0">
                <a:solidFill>
                  <a:schemeClr val="bg1"/>
                </a:solidFill>
              </a:rPr>
              <a:t>:</a:t>
            </a:r>
          </a:p>
          <a:p>
            <a:r>
              <a:rPr lang="es-MX" sz="1600" dirty="0">
                <a:solidFill>
                  <a:schemeClr val="bg1"/>
                </a:solidFill>
              </a:rPr>
              <a:t>      - ./</a:t>
            </a:r>
            <a:r>
              <a:rPr lang="es-MX" sz="1600" dirty="0" err="1">
                <a:solidFill>
                  <a:schemeClr val="bg1"/>
                </a:solidFill>
              </a:rPr>
              <a:t>sql</a:t>
            </a:r>
            <a:r>
              <a:rPr lang="es-MX" sz="1600" dirty="0">
                <a:solidFill>
                  <a:schemeClr val="bg1"/>
                </a:solidFill>
              </a:rPr>
              <a:t>:/</a:t>
            </a:r>
            <a:r>
              <a:rPr lang="es-MX" sz="1600" dirty="0" err="1">
                <a:solidFill>
                  <a:schemeClr val="bg1"/>
                </a:solidFill>
              </a:rPr>
              <a:t>docker-entrypoint-initdb.d</a:t>
            </a:r>
            <a:endParaRPr lang="es-MX" sz="1600" dirty="0">
              <a:solidFill>
                <a:schemeClr val="bg1"/>
              </a:solidFill>
            </a:endParaRPr>
          </a:p>
          <a:p>
            <a:r>
              <a:rPr lang="es-MX" sz="1600" dirty="0">
                <a:solidFill>
                  <a:schemeClr val="bg1"/>
                </a:solidFill>
              </a:rPr>
              <a:t>    </a:t>
            </a:r>
            <a:r>
              <a:rPr lang="es-MX" sz="1600" dirty="0" err="1">
                <a:solidFill>
                  <a:schemeClr val="bg1"/>
                </a:solidFill>
              </a:rPr>
              <a:t>entrypoint</a:t>
            </a:r>
            <a:r>
              <a:rPr lang="es-MX" sz="1600" dirty="0">
                <a:solidFill>
                  <a:schemeClr val="bg1"/>
                </a:solidFill>
              </a:rPr>
              <a:t>: [ "/bin/</a:t>
            </a:r>
            <a:r>
              <a:rPr lang="es-MX" sz="1600" dirty="0" err="1">
                <a:solidFill>
                  <a:schemeClr val="bg1"/>
                </a:solidFill>
              </a:rPr>
              <a:t>bash</a:t>
            </a:r>
            <a:r>
              <a:rPr lang="es-MX" sz="1600" dirty="0">
                <a:solidFill>
                  <a:schemeClr val="bg1"/>
                </a:solidFill>
              </a:rPr>
              <a:t>", "/</a:t>
            </a:r>
            <a:r>
              <a:rPr lang="es-MX" sz="1600" dirty="0" err="1">
                <a:solidFill>
                  <a:schemeClr val="bg1"/>
                </a:solidFill>
              </a:rPr>
              <a:t>docker-entrypoint-initdb.d</a:t>
            </a:r>
            <a:r>
              <a:rPr lang="es-MX" sz="1600" dirty="0">
                <a:solidFill>
                  <a:schemeClr val="bg1"/>
                </a:solidFill>
              </a:rPr>
              <a:t>/03-init.sh" ]</a:t>
            </a:r>
            <a:endParaRPr lang="es-MX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3407" y="267999"/>
            <a:ext cx="5550693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8FAFC"/>
                </a:solidFill>
                <a:latin typeface="Poppins"/>
              </a:rPr>
              <a:t>Resultado Esperado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EDDED2-F3BC-7AD7-3A79-57ED07A47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07" y="1026328"/>
            <a:ext cx="10972800" cy="55636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447</Words>
  <Application>Microsoft Office PowerPoint</Application>
  <PresentationFormat>Widescreen</PresentationFormat>
  <Paragraphs>52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Consolas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ANGEL DANIEL LOPEZ RODRIGUEZ</cp:lastModifiedBy>
  <cp:revision>3</cp:revision>
  <dcterms:created xsi:type="dcterms:W3CDTF">2013-01-27T09:14:16Z</dcterms:created>
  <dcterms:modified xsi:type="dcterms:W3CDTF">2026-09-09T03:19:09Z</dcterms:modified>
  <cp:category/>
</cp:coreProperties>
</file>